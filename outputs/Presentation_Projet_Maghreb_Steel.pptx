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C3E"/>
        </a:solidFill>
        <a:effectLst/>
      </p:bgPr>
    </p:bg>
    <p:spTree>
      <p:nvGrpSpPr>
        <p:cNvPr id="1" name=""/>
        <p:cNvGrpSpPr/>
        <p:nvPr/>
      </p:nvGrpSpPr>
      <p:grpSpPr/>
      <p:sp>
        <p:nvSpPr>
          <p:cNvPr id="2" name="TextBox 1"/>
          <p:cNvSpPr txBox="1"/>
          <p:nvPr/>
        </p:nvSpPr>
        <p:spPr>
          <a:xfrm>
            <a:off x="914400" y="2011680"/>
            <a:ext cx="10360152" cy="2743200"/>
          </a:xfrm>
          <a:prstGeom prst="rect">
            <a:avLst/>
          </a:prstGeom>
          <a:noFill/>
        </p:spPr>
        <p:txBody>
          <a:bodyPr wrap="square">
            <a:spAutoFit/>
          </a:bodyPr>
          <a:lstStyle/>
          <a:p>
            <a:pPr>
              <a:spcAft>
                <a:spcPts val="1000"/>
              </a:spcAft>
              <a:defRPr sz="4400" b="1">
                <a:solidFill>
                  <a:srgbClr val="FFFFFF"/>
                </a:solidFill>
                <a:latin typeface="Arial"/>
              </a:defRPr>
            </a:pPr>
            <a:r>
              <a:t>SIMULATEUR CAPACITE-COMMANDE</a:t>
            </a:r>
          </a:p>
          <a:p>
            <a:pPr>
              <a:spcAft>
                <a:spcPts val="3000"/>
              </a:spcAft>
              <a:defRPr sz="1800" b="0">
                <a:solidFill>
                  <a:srgbClr val="3B82F6"/>
                </a:solidFill>
                <a:latin typeface="Arial"/>
              </a:defRPr>
            </a:pPr>
            <a:r>
              <a:t>Projet de Recherche Operationnelle - EMINES UM6P 2026</a:t>
            </a:r>
          </a:p>
          <a:p>
            <a:pPr>
              <a:spcAft>
                <a:spcPts val="0"/>
              </a:spcAft>
              <a:defRPr sz="1400" b="0">
                <a:solidFill>
                  <a:srgbClr val="FFFFFF"/>
                </a:solidFill>
                <a:latin typeface="Arial"/>
              </a:defRPr>
            </a:pPr>
            <a:r>
              <a:t>Guide de l'Utilisateur &amp; Synthese Technique</a:t>
            </a:r>
            <a:br/>
            <a:r>
              <a:t>Partenaire industriel : Maghreb Steel (Tit Mellil)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11274552" cy="731520"/>
          </a:xfrm>
          <a:prstGeom prst="rect">
            <a:avLst/>
          </a:prstGeom>
          <a:noFill/>
        </p:spPr>
        <p:txBody>
          <a:bodyPr wrap="square" lIns="0" tIns="0" rIns="0" bIns="0">
            <a:spAutoFit/>
          </a:bodyPr>
          <a:lstStyle/>
          <a:p>
            <a:pPr>
              <a:defRPr sz="3600" b="1">
                <a:solidFill>
                  <a:srgbClr val="0B1C3E"/>
                </a:solidFill>
                <a:latin typeface="Arial"/>
              </a:defRPr>
            </a:pPr>
            <a:r>
              <a:t>Contexte Industriel &amp; Objectifs</a:t>
            </a:r>
          </a:p>
        </p:txBody>
      </p:sp>
      <p:sp>
        <p:nvSpPr>
          <p:cNvPr id="3" name="TextBox 2"/>
          <p:cNvSpPr txBox="1"/>
          <p:nvPr/>
        </p:nvSpPr>
        <p:spPr>
          <a:xfrm>
            <a:off x="640080" y="1645920"/>
            <a:ext cx="5120640" cy="4572000"/>
          </a:xfrm>
          <a:prstGeom prst="rect">
            <a:avLst/>
          </a:prstGeom>
          <a:noFill/>
        </p:spPr>
        <p:txBody>
          <a:bodyPr wrap="square">
            <a:spAutoFit/>
          </a:bodyPr>
          <a:lstStyle/>
          <a:p>
            <a:pPr>
              <a:spcAft>
                <a:spcPts val="1400"/>
              </a:spcAft>
              <a:defRPr sz="2000" b="1">
                <a:solidFill>
                  <a:srgbClr val="0B1C3E"/>
                </a:solidFill>
                <a:latin typeface="Arial"/>
              </a:defRPr>
            </a:pPr>
            <a:r>
              <a:t>Contexte Maghreb Steel (Tit Mellil)</a:t>
            </a:r>
          </a:p>
          <a:p>
            <a:pPr>
              <a:spcAft>
                <a:spcPts val="1200"/>
              </a:spcAft>
              <a:defRPr sz="1400" b="0">
                <a:solidFill>
                  <a:srgbClr val="334155"/>
                </a:solidFill>
                <a:latin typeface="Arial"/>
              </a:defRPr>
            </a:pPr>
            <a:r>
              <a:t>o L'usine recoit en continu des consultations clients pour differents produits plats (CRC, HDG, PPGI, BACR).</a:t>
            </a:r>
          </a:p>
          <a:p>
            <a:pPr>
              <a:spcAft>
                <a:spcPts val="1200"/>
              </a:spcAft>
              <a:defRPr sz="1400" b="0">
                <a:solidFill>
                  <a:srgbClr val="334155"/>
                </a:solidFill>
                <a:latin typeface="Arial"/>
              </a:defRPr>
            </a:pPr>
            <a:r>
              <a:t>o Le service planification doit decider en temps reel si l'usine peut honorer le tonnage demande, dans quels delais et a quelle marge.</a:t>
            </a:r>
          </a:p>
          <a:p>
            <a:pPr>
              <a:spcAft>
                <a:spcPts val="1200"/>
              </a:spcAft>
              <a:defRPr sz="1400" b="0">
                <a:solidFill>
                  <a:srgbClr val="334155"/>
                </a:solidFill>
                <a:latin typeface="Arial"/>
              </a:defRPr>
            </a:pPr>
            <a:r>
              <a:t>o Le carnet depasse la capacite de l'usine (saturation) : il est imperatif d'automatiser les arbitrages pour maximiser les profits.</a:t>
            </a:r>
          </a:p>
        </p:txBody>
      </p:sp>
      <p:sp>
        <p:nvSpPr>
          <p:cNvPr id="4" name="TextBox 3"/>
          <p:cNvSpPr txBox="1"/>
          <p:nvPr/>
        </p:nvSpPr>
        <p:spPr>
          <a:xfrm>
            <a:off x="6309360" y="1645920"/>
            <a:ext cx="5120640" cy="4572000"/>
          </a:xfrm>
          <a:prstGeom prst="rect">
            <a:avLst/>
          </a:prstGeom>
          <a:noFill/>
        </p:spPr>
        <p:txBody>
          <a:bodyPr wrap="square">
            <a:spAutoFit/>
          </a:bodyPr>
          <a:lstStyle/>
          <a:p>
            <a:pPr>
              <a:spcAft>
                <a:spcPts val="1400"/>
              </a:spcAft>
              <a:defRPr sz="2000" b="1">
                <a:solidFill>
                  <a:srgbClr val="0B1C3E"/>
                </a:solidFill>
                <a:latin typeface="Arial"/>
              </a:defRPr>
            </a:pPr>
            <a:r>
              <a:t>Les 4 Objectifs du Simulateur</a:t>
            </a:r>
          </a:p>
          <a:p>
            <a:pPr>
              <a:spcAft>
                <a:spcPts val="1200"/>
              </a:spcAft>
              <a:defRPr sz="1400" b="0">
                <a:solidFill>
                  <a:srgbClr val="334155"/>
                </a:solidFill>
                <a:latin typeface="Arial"/>
              </a:defRPr>
            </a:pPr>
            <a:r>
              <a:t>O1. Maximiser la Marge sur Couts Variables globale sur l'horizon de 4 semaines.</a:t>
            </a:r>
          </a:p>
          <a:p>
            <a:pPr>
              <a:spcAft>
                <a:spcPts val="1200"/>
              </a:spcAft>
              <a:defRPr sz="1400" b="0">
                <a:solidFill>
                  <a:srgbClr val="334155"/>
                </a:solidFill>
                <a:latin typeface="Arial"/>
              </a:defRPr>
            </a:pPr>
            <a:r>
              <a:t>O2. Respecter les Contraintes Industrielles (arrets machines, flux, stocks de securite).</a:t>
            </a:r>
          </a:p>
          <a:p>
            <a:pPr>
              <a:spcAft>
                <a:spcPts val="1200"/>
              </a:spcAft>
              <a:defRPr sz="1400" b="0">
                <a:solidFill>
                  <a:srgbClr val="334155"/>
                </a:solidFill>
                <a:latin typeface="Arial"/>
              </a:defRPr>
            </a:pPr>
            <a:r>
              <a:t>O3. Identifier pour chaque commande refusee la cause bloquante precise.</a:t>
            </a:r>
          </a:p>
          <a:p>
            <a:pPr>
              <a:spcAft>
                <a:spcPts val="1200"/>
              </a:spcAft>
              <a:defRPr sz="1400" b="0">
                <a:solidFill>
                  <a:srgbClr val="334155"/>
                </a:solidFill>
                <a:latin typeface="Arial"/>
              </a:defRPr>
            </a:pPr>
            <a:r>
              <a:t>O4. Produire un Plan de Marche directement actionnable par les equipes.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11274552" cy="731520"/>
          </a:xfrm>
          <a:prstGeom prst="rect">
            <a:avLst/>
          </a:prstGeom>
          <a:noFill/>
        </p:spPr>
        <p:txBody>
          <a:bodyPr wrap="square" lIns="0" tIns="0" rIns="0" bIns="0">
            <a:spAutoFit/>
          </a:bodyPr>
          <a:lstStyle/>
          <a:p>
            <a:pPr>
              <a:defRPr sz="3600" b="1">
                <a:solidFill>
                  <a:srgbClr val="0B1C3E"/>
                </a:solidFill>
                <a:latin typeface="Arial"/>
              </a:defRPr>
            </a:pPr>
            <a:r>
              <a:t>Lancement &amp; Prise en Main</a:t>
            </a:r>
          </a:p>
        </p:txBody>
      </p:sp>
      <p:sp>
        <p:nvSpPr>
          <p:cNvPr id="3" name="TextBox 2"/>
          <p:cNvSpPr txBox="1"/>
          <p:nvPr/>
        </p:nvSpPr>
        <p:spPr>
          <a:xfrm>
            <a:off x="640080" y="1645920"/>
            <a:ext cx="5486400" cy="4572000"/>
          </a:xfrm>
          <a:prstGeom prst="rect">
            <a:avLst/>
          </a:prstGeom>
          <a:noFill/>
        </p:spPr>
        <p:txBody>
          <a:bodyPr wrap="square">
            <a:spAutoFit/>
          </a:bodyPr>
          <a:lstStyle/>
          <a:p>
            <a:pPr>
              <a:spcAft>
                <a:spcPts val="600"/>
              </a:spcAft>
              <a:defRPr sz="1800" b="1">
                <a:solidFill>
                  <a:srgbClr val="0B1C3E"/>
                </a:solidFill>
                <a:latin typeface="Arial"/>
              </a:defRPr>
            </a:pPr>
            <a:r>
              <a:t>1. Lancement de l'Application Web</a:t>
            </a:r>
          </a:p>
          <a:p>
            <a:pPr>
              <a:spcAft>
                <a:spcPts val="1600"/>
              </a:spcAft>
              <a:defRPr sz="1300" b="0">
                <a:solidFill>
                  <a:srgbClr val="334155"/>
                </a:solidFill>
                <a:latin typeface="Arial"/>
              </a:defRPr>
            </a:pPr>
            <a:r>
              <a:t>Executez dans le terminal Windows :</a:t>
            </a:r>
            <a:br/>
            <a:r>
              <a:t>   python -m streamlit run app.py</a:t>
            </a:r>
            <a:br/>
            <a:r>
              <a:t>-&gt; S'ouvre sur http://localhost:8501</a:t>
            </a:r>
          </a:p>
          <a:p>
            <a:pPr>
              <a:spcAft>
                <a:spcPts val="600"/>
              </a:spcAft>
              <a:defRPr sz="1800" b="1">
                <a:solidFill>
                  <a:srgbClr val="0B1C3E"/>
                </a:solidFill>
                <a:latin typeface="Arial"/>
              </a:defRPr>
            </a:pPr>
            <a:r>
              <a:t>2. Utilisation en Ligne de Commande (CLI)</a:t>
            </a:r>
          </a:p>
          <a:p>
            <a:pPr>
              <a:spcAft>
                <a:spcPts val="1600"/>
              </a:spcAft>
              <a:defRPr sz="1300" b="0">
                <a:solidFill>
                  <a:srgbClr val="334155"/>
                </a:solidFill>
                <a:latin typeface="Arial"/>
              </a:defRPr>
            </a:pPr>
            <a:r>
              <a:t>Pour executer des calculs rapides et generer les rapports Excel et CSV :</a:t>
            </a:r>
            <a:br/>
            <a:r>
              <a:t>- Nominal : python main.py</a:t>
            </a:r>
            <a:br/>
            <a:r>
              <a:t>- Sensibilite : python main.py --scenario [panne_lgb|hrc_cher]</a:t>
            </a:r>
          </a:p>
          <a:p>
            <a:pPr>
              <a:spcAft>
                <a:spcPts val="600"/>
              </a:spcAft>
              <a:defRPr sz="1800" b="1">
                <a:solidFill>
                  <a:srgbClr val="0B1C3E"/>
                </a:solidFill>
                <a:latin typeface="Arial"/>
              </a:defRPr>
            </a:pPr>
            <a:r>
              <a:t>3. Consultation de la Documentation</a:t>
            </a:r>
          </a:p>
          <a:p>
            <a:pPr>
              <a:spcAft>
                <a:spcPts val="0"/>
              </a:spcAft>
              <a:defRPr sz="1300" b="0">
                <a:solidFill>
                  <a:srgbClr val="334155"/>
                </a:solidFill>
                <a:latin typeface="Arial"/>
              </a:defRPr>
            </a:pPr>
            <a:r>
              <a:t>Double-cliquez sur le fichier docs/index.html pour ouvrir le guide interactif complet.</a:t>
            </a:r>
          </a:p>
        </p:txBody>
      </p:sp>
      <p:pic>
        <p:nvPicPr>
          <p:cNvPr id="4" name="Picture 3" descr="docs_page_screenshot.png"/>
          <p:cNvPicPr>
            <a:picLocks noChangeAspect="1"/>
          </p:cNvPicPr>
          <p:nvPr/>
        </p:nvPicPr>
        <p:blipFill>
          <a:blip r:embed="rId2"/>
          <a:stretch>
            <a:fillRect/>
          </a:stretch>
        </p:blipFill>
        <p:spPr>
          <a:xfrm>
            <a:off x="6492240" y="1645920"/>
            <a:ext cx="5029200" cy="34747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11274552" cy="731520"/>
          </a:xfrm>
          <a:prstGeom prst="rect">
            <a:avLst/>
          </a:prstGeom>
          <a:noFill/>
        </p:spPr>
        <p:txBody>
          <a:bodyPr wrap="square" lIns="0" tIns="0" rIns="0" bIns="0">
            <a:spAutoFit/>
          </a:bodyPr>
          <a:lstStyle/>
          <a:p>
            <a:pPr>
              <a:defRPr sz="3600" b="1">
                <a:solidFill>
                  <a:srgbClr val="0B1C3E"/>
                </a:solidFill>
                <a:latin typeface="Arial"/>
              </a:defRPr>
            </a:pPr>
            <a:r>
              <a:t>Interface : Application Streamlit</a:t>
            </a:r>
          </a:p>
        </p:txBody>
      </p:sp>
      <p:sp>
        <p:nvSpPr>
          <p:cNvPr id="3" name="TextBox 2"/>
          <p:cNvSpPr txBox="1"/>
          <p:nvPr/>
        </p:nvSpPr>
        <p:spPr>
          <a:xfrm>
            <a:off x="640080" y="1645920"/>
            <a:ext cx="4114800" cy="4572000"/>
          </a:xfrm>
          <a:prstGeom prst="rect">
            <a:avLst/>
          </a:prstGeom>
          <a:noFill/>
        </p:spPr>
        <p:txBody>
          <a:bodyPr wrap="square">
            <a:spAutoFit/>
          </a:bodyPr>
          <a:lstStyle/>
          <a:p>
            <a:pPr>
              <a:spcAft>
                <a:spcPts val="1200"/>
              </a:spcAft>
              <a:defRPr sz="2000" b="1">
                <a:solidFill>
                  <a:srgbClr val="0B1C3E"/>
                </a:solidFill>
                <a:latin typeface="Arial"/>
              </a:defRPr>
            </a:pPr>
            <a:r>
              <a:t>Simulateur Interactif en temps reel</a:t>
            </a:r>
          </a:p>
          <a:p>
            <a:pPr>
              <a:spcAft>
                <a:spcPts val="1200"/>
              </a:spcAft>
              <a:defRPr sz="1400" b="0">
                <a:solidFill>
                  <a:srgbClr val="334155"/>
                </a:solidFill>
                <a:latin typeface="Arial"/>
              </a:defRPr>
            </a:pPr>
            <a:r>
              <a:t>- Visualisation des KPI (marge, taux de service, tonnage livre, commandes refusees).</a:t>
            </a:r>
          </a:p>
          <a:p>
            <a:pPr>
              <a:spcAft>
                <a:spcPts val="1200"/>
              </a:spcAft>
              <a:defRPr sz="1400" b="0">
                <a:solidFill>
                  <a:srgbClr val="334155"/>
                </a:solidFill>
                <a:latin typeface="Arial"/>
              </a:defRPr>
            </a:pPr>
            <a:r>
              <a:t>- Navigation facile a travers 5 onglets thematiques.</a:t>
            </a:r>
          </a:p>
          <a:p>
            <a:pPr>
              <a:spcAft>
                <a:spcPts val="1200"/>
              </a:spcAft>
              <a:defRPr sz="1400" b="0">
                <a:solidFill>
                  <a:srgbClr val="334155"/>
                </a:solidFill>
                <a:latin typeface="Arial"/>
              </a:defRPr>
            </a:pPr>
            <a:r>
              <a:t>- Exportation instantanee du plan de marche optimal et des shadow prices en Excel/CSV.</a:t>
            </a:r>
          </a:p>
        </p:txBody>
      </p:sp>
      <p:pic>
        <p:nvPicPr>
          <p:cNvPr id="4" name="Picture 3" descr="streamlit_app_screenshot.png"/>
          <p:cNvPicPr>
            <a:picLocks noChangeAspect="1"/>
          </p:cNvPicPr>
          <p:nvPr/>
        </p:nvPicPr>
        <p:blipFill>
          <a:blip r:embed="rId2"/>
          <a:stretch>
            <a:fillRect/>
          </a:stretch>
        </p:blipFill>
        <p:spPr>
          <a:xfrm>
            <a:off x="5120640" y="1645920"/>
            <a:ext cx="6400800" cy="43891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11274552" cy="731520"/>
          </a:xfrm>
          <a:prstGeom prst="rect">
            <a:avLst/>
          </a:prstGeom>
          <a:noFill/>
        </p:spPr>
        <p:txBody>
          <a:bodyPr wrap="square" lIns="0" tIns="0" rIns="0" bIns="0">
            <a:spAutoFit/>
          </a:bodyPr>
          <a:lstStyle/>
          <a:p>
            <a:pPr>
              <a:defRPr sz="3600" b="1">
                <a:solidFill>
                  <a:srgbClr val="0B1C3E"/>
                </a:solidFill>
                <a:latin typeface="Arial"/>
              </a:defRPr>
            </a:pPr>
            <a:r>
              <a:t>Interface : Plan de Marche &amp; Goulots</a:t>
            </a:r>
          </a:p>
        </p:txBody>
      </p:sp>
      <p:sp>
        <p:nvSpPr>
          <p:cNvPr id="3" name="TextBox 2"/>
          <p:cNvSpPr txBox="1"/>
          <p:nvPr/>
        </p:nvSpPr>
        <p:spPr>
          <a:xfrm>
            <a:off x="640080" y="1645920"/>
            <a:ext cx="4572000" cy="4572000"/>
          </a:xfrm>
          <a:prstGeom prst="rect">
            <a:avLst/>
          </a:prstGeom>
          <a:noFill/>
        </p:spPr>
        <p:txBody>
          <a:bodyPr wrap="square">
            <a:spAutoFit/>
          </a:bodyPr>
          <a:lstStyle/>
          <a:p>
            <a:pPr>
              <a:spcAft>
                <a:spcPts val="1000"/>
              </a:spcAft>
              <a:defRPr sz="2000" b="1">
                <a:solidFill>
                  <a:srgbClr val="0B1C3E"/>
                </a:solidFill>
                <a:latin typeface="Arial"/>
              </a:defRPr>
            </a:pPr>
            <a:r>
              <a:t>Onglet 1 - Plan de Marche</a:t>
            </a:r>
          </a:p>
          <a:p>
            <a:pPr>
              <a:spcAft>
                <a:spcPts val="1200"/>
              </a:spcAft>
              <a:defRPr sz="1300" b="0">
                <a:solidFill>
                  <a:srgbClr val="334155"/>
                </a:solidFill>
                <a:latin typeface="Arial"/>
              </a:defRPr>
            </a:pPr>
            <a:r>
              <a:t>- Affiche le tonnage planifie par ligne et par semaine sous forme de carte thermique de couleurs.</a:t>
            </a:r>
          </a:p>
          <a:p>
            <a:pPr>
              <a:spcAft>
                <a:spcPts val="1200"/>
              </a:spcAft>
              <a:defRPr sz="1300" b="0">
                <a:solidFill>
                  <a:srgbClr val="334155"/>
                </a:solidFill>
                <a:latin typeface="Arial"/>
              </a:defRPr>
            </a:pPr>
            <a:r>
              <a:t>- Graphique montrant le ratio hebdomadaire des familles (CRC, HDG, PPGI, BACR) produites.</a:t>
            </a:r>
          </a:p>
          <a:p>
            <a:pPr>
              <a:spcAft>
                <a:spcPts val="1000"/>
              </a:spcAft>
              <a:defRPr sz="2000" b="1">
                <a:solidFill>
                  <a:srgbClr val="0B1C3E"/>
                </a:solidFill>
                <a:latin typeface="Arial"/>
              </a:defRPr>
            </a:pPr>
            <a:r>
              <a:t>Onglet 2 - Utilisation des Lignes</a:t>
            </a:r>
          </a:p>
          <a:p>
            <a:pPr>
              <a:spcAft>
                <a:spcPts val="1200"/>
              </a:spcAft>
              <a:defRPr sz="1300" b="0">
                <a:solidFill>
                  <a:srgbClr val="334155"/>
                </a:solidFill>
                <a:latin typeface="Arial"/>
              </a:defRPr>
            </a:pPr>
            <a:r>
              <a:t>- Affiche le taux d'utilisation hebdomadaire des machines par rapport a la capacite nette dispo.</a:t>
            </a:r>
          </a:p>
          <a:p>
            <a:pPr>
              <a:spcAft>
                <a:spcPts val="1200"/>
              </a:spcAft>
              <a:defRPr sz="1300" b="0">
                <a:solidFill>
                  <a:srgbClr val="334155"/>
                </a:solidFill>
                <a:latin typeface="Arial"/>
              </a:defRPr>
            </a:pPr>
            <a:r>
              <a:t>- Identifie de maniere automatique les goulots d'etranglement satures (ex. LGA S1 a 100%, CRMB S1 a 99.6%).</a:t>
            </a:r>
          </a:p>
        </p:txBody>
      </p:sp>
      <p:pic>
        <p:nvPicPr>
          <p:cNvPr id="4" name="Picture 3" descr="heatmap.png"/>
          <p:cNvPicPr>
            <a:picLocks noChangeAspect="1"/>
          </p:cNvPicPr>
          <p:nvPr/>
        </p:nvPicPr>
        <p:blipFill>
          <a:blip r:embed="rId2"/>
          <a:stretch>
            <a:fillRect/>
          </a:stretch>
        </p:blipFill>
        <p:spPr>
          <a:xfrm>
            <a:off x="5577840" y="1645920"/>
            <a:ext cx="5943600" cy="41148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11274552" cy="731520"/>
          </a:xfrm>
          <a:prstGeom prst="rect">
            <a:avLst/>
          </a:prstGeom>
          <a:noFill/>
        </p:spPr>
        <p:txBody>
          <a:bodyPr wrap="square" lIns="0" tIns="0" rIns="0" bIns="0">
            <a:spAutoFit/>
          </a:bodyPr>
          <a:lstStyle/>
          <a:p>
            <a:pPr>
              <a:defRPr sz="3600" b="1">
                <a:solidFill>
                  <a:srgbClr val="0B1C3E"/>
                </a:solidFill>
                <a:latin typeface="Arial"/>
              </a:defRPr>
            </a:pPr>
            <a:r>
              <a:t>Interface : Commandes &amp; Rentabilite</a:t>
            </a:r>
          </a:p>
        </p:txBody>
      </p:sp>
      <p:sp>
        <p:nvSpPr>
          <p:cNvPr id="3" name="TextBox 2"/>
          <p:cNvSpPr txBox="1"/>
          <p:nvPr/>
        </p:nvSpPr>
        <p:spPr>
          <a:xfrm>
            <a:off x="640080" y="1645920"/>
            <a:ext cx="4572000" cy="4572000"/>
          </a:xfrm>
          <a:prstGeom prst="rect">
            <a:avLst/>
          </a:prstGeom>
          <a:noFill/>
        </p:spPr>
        <p:txBody>
          <a:bodyPr wrap="square">
            <a:spAutoFit/>
          </a:bodyPr>
          <a:lstStyle/>
          <a:p>
            <a:pPr>
              <a:spcAft>
                <a:spcPts val="1000"/>
              </a:spcAft>
              <a:defRPr sz="2000" b="1">
                <a:solidFill>
                  <a:srgbClr val="0B1C3E"/>
                </a:solidFill>
                <a:latin typeface="Arial"/>
              </a:defRPr>
            </a:pPr>
            <a:r>
              <a:t>Onglet 3 - Suivi des Commandes</a:t>
            </a:r>
          </a:p>
          <a:p>
            <a:pPr>
              <a:spcAft>
                <a:spcPts val="1200"/>
              </a:spcAft>
              <a:defRPr sz="1300" b="0">
                <a:solidFill>
                  <a:srgbClr val="334155"/>
                </a:solidFill>
                <a:latin typeface="Arial"/>
              </a:defRPr>
            </a:pPr>
            <a:r>
              <a:t>- Tableau croise affichant pour chaque commande le tonnage alloue et le chemin optimal choisi.</a:t>
            </a:r>
          </a:p>
          <a:p>
            <a:pPr>
              <a:spcAft>
                <a:spcPts val="1200"/>
              </a:spcAft>
              <a:defRPr sz="1300" b="0">
                <a:solidFill>
                  <a:srgbClr val="334155"/>
                </a:solidFill>
                <a:latin typeface="Arial"/>
              </a:defRPr>
            </a:pPr>
            <a:r>
              <a:t>- Filtres par priorite (Haute/Normale/Basse) et statut (livre/partiel/refuse) avec barres de progression colorees.</a:t>
            </a:r>
          </a:p>
          <a:p>
            <a:pPr>
              <a:spcAft>
                <a:spcPts val="1000"/>
              </a:spcAft>
              <a:defRPr sz="2000" b="1">
                <a:solidFill>
                  <a:srgbClr val="0B1C3E"/>
                </a:solidFill>
                <a:latin typeface="Arial"/>
              </a:defRPr>
            </a:pPr>
            <a:r>
              <a:t>Onglet 4 - Analyse Economique</a:t>
            </a:r>
          </a:p>
          <a:p>
            <a:pPr>
              <a:spcAft>
                <a:spcPts val="1200"/>
              </a:spcAft>
              <a:defRPr sz="1300" b="0">
                <a:solidFill>
                  <a:srgbClr val="334155"/>
                </a:solidFill>
                <a:latin typeface="Arial"/>
              </a:defRPr>
            </a:pPr>
            <a:r>
              <a:t>- Compare la marge cumulee generee par chaque famille de produits finis.</a:t>
            </a:r>
          </a:p>
          <a:p>
            <a:pPr>
              <a:spcAft>
                <a:spcPts val="1200"/>
              </a:spcAft>
              <a:defRPr sz="1300" b="0">
                <a:solidFill>
                  <a:srgbClr val="334155"/>
                </a:solidFill>
                <a:latin typeface="Arial"/>
              </a:defRPr>
            </a:pPr>
            <a:r>
              <a:t>- Scatter Plot pour analyser la dispersion (marge unitaire vs tonnage).</a:t>
            </a:r>
          </a:p>
        </p:txBody>
      </p:sp>
      <p:pic>
        <p:nvPicPr>
          <p:cNvPr id="4" name="Picture 3" descr="marge_familles.png"/>
          <p:cNvPicPr>
            <a:picLocks noChangeAspect="1"/>
          </p:cNvPicPr>
          <p:nvPr/>
        </p:nvPicPr>
        <p:blipFill>
          <a:blip r:embed="rId2"/>
          <a:stretch>
            <a:fillRect/>
          </a:stretch>
        </p:blipFill>
        <p:spPr>
          <a:xfrm>
            <a:off x="5577840" y="1645920"/>
            <a:ext cx="5943600" cy="41148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11274552" cy="731520"/>
          </a:xfrm>
          <a:prstGeom prst="rect">
            <a:avLst/>
          </a:prstGeom>
          <a:noFill/>
        </p:spPr>
        <p:txBody>
          <a:bodyPr wrap="square" lIns="0" tIns="0" rIns="0" bIns="0">
            <a:spAutoFit/>
          </a:bodyPr>
          <a:lstStyle/>
          <a:p>
            <a:pPr>
              <a:defRPr sz="3600" b="1">
                <a:solidFill>
                  <a:srgbClr val="0B1C3E"/>
                </a:solidFill>
                <a:latin typeface="Arial"/>
              </a:defRPr>
            </a:pPr>
            <a:r>
              <a:t>Interface : Shadow Prices (Prix Duaux)</a:t>
            </a:r>
          </a:p>
        </p:txBody>
      </p:sp>
      <p:sp>
        <p:nvSpPr>
          <p:cNvPr id="3" name="TextBox 2"/>
          <p:cNvSpPr txBox="1"/>
          <p:nvPr/>
        </p:nvSpPr>
        <p:spPr>
          <a:xfrm>
            <a:off x="640080" y="1645920"/>
            <a:ext cx="10908792" cy="4572000"/>
          </a:xfrm>
          <a:prstGeom prst="rect">
            <a:avLst/>
          </a:prstGeom>
          <a:noFill/>
        </p:spPr>
        <p:txBody>
          <a:bodyPr wrap="square">
            <a:spAutoFit/>
          </a:bodyPr>
          <a:lstStyle/>
          <a:p>
            <a:pPr>
              <a:spcAft>
                <a:spcPts val="1000"/>
              </a:spcAft>
              <a:defRPr sz="2000" b="1">
                <a:solidFill>
                  <a:srgbClr val="0B1C3E"/>
                </a:solidFill>
                <a:latin typeface="Arial"/>
              </a:defRPr>
            </a:pPr>
            <a:r>
              <a:t>Onglet 5 - Shadow Prices</a:t>
            </a:r>
          </a:p>
          <a:p>
            <a:pPr>
              <a:spcAft>
                <a:spcPts val="1600"/>
              </a:spcAft>
              <a:defRPr sz="1400" b="0">
                <a:solidFill>
                  <a:srgbClr val="334155"/>
                </a:solidFill>
                <a:latin typeface="Arial"/>
              </a:defRPr>
            </a:pPr>
            <a:r>
              <a:t>o Qu'est-ce qu'un Shadow Price ? C'est la valeur marginale (dual) d'une contrainte saturee. Il indique combien de MAD supplementaires seraient gagnes si la contrainte etait assouplie d'une unite.</a:t>
            </a:r>
          </a:p>
          <a:p>
            <a:pPr>
              <a:spcAft>
                <a:spcPts val="1000"/>
              </a:spcAft>
              <a:defRPr sz="1600" b="1">
                <a:solidFill>
                  <a:srgbClr val="0B1C3E"/>
                </a:solidFill>
                <a:latin typeface="Arial"/>
              </a:defRPr>
            </a:pPr>
            <a:r>
              <a:t>o Utilisation pratique pour le decideur :</a:t>
            </a:r>
          </a:p>
          <a:p>
            <a:pPr>
              <a:spcAft>
                <a:spcPts val="800"/>
              </a:spcAft>
              <a:defRPr sz="1400" b="0">
                <a:solidFill>
                  <a:srgbClr val="334155"/>
                </a:solidFill>
                <a:latin typeface="Arial"/>
              </a:defRPr>
            </a:pPr>
            <a:r>
              <a:t>   1. Pour les contraintes machines (ex. cap_CRMB_S1 = 3200 MAD/T) : Renseigne sur la rentabilite d'ajouter des heures supplementaires sur cette machine (+3200 MAD de profit net par tonne supplementaire).</a:t>
            </a:r>
          </a:p>
          <a:p>
            <a:pPr>
              <a:spcAft>
                <a:spcPts val="800"/>
              </a:spcAft>
              <a:defRPr sz="1400" b="0">
                <a:solidFill>
                  <a:srgbClr val="334155"/>
                </a:solidFill>
                <a:latin typeface="Arial"/>
              </a:defRPr>
            </a:pPr>
            <a:r>
              <a:t>   2. Pour les contraintes de demande (ex. dem_CMD_042 = 4740 MAD/T) : Represente la marge d'opportunite d'augmenter le volume d'une commande (commande rentable actuellement bridee par les capacities).</a:t>
            </a:r>
          </a:p>
          <a:p>
            <a:pPr>
              <a:spcAft>
                <a:spcPts val="0"/>
              </a:spcAft>
              <a:defRPr sz="1400" b="0">
                <a:solidFill>
                  <a:srgbClr val="334155"/>
                </a:solidFill>
                <a:latin typeface="Arial"/>
              </a:defRPr>
            </a:pPr>
            <a:r>
              <a:t>   3. Tri decroissant : Le graphique affiche en premier les contraintes causant les plus gros manques a gagner pour l'usine.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11274552" cy="731520"/>
          </a:xfrm>
          <a:prstGeom prst="rect">
            <a:avLst/>
          </a:prstGeom>
          <a:noFill/>
        </p:spPr>
        <p:txBody>
          <a:bodyPr wrap="square" lIns="0" tIns="0" rIns="0" bIns="0">
            <a:spAutoFit/>
          </a:bodyPr>
          <a:lstStyle/>
          <a:p>
            <a:pPr>
              <a:defRPr sz="3600" b="1">
                <a:solidFill>
                  <a:srgbClr val="0B1C3E"/>
                </a:solidFill>
                <a:latin typeface="Arial"/>
              </a:defRPr>
            </a:pPr>
            <a:r>
              <a:t>En Resume : Programmation &amp; Modele</a:t>
            </a:r>
          </a:p>
        </p:txBody>
      </p:sp>
      <p:sp>
        <p:nvSpPr>
          <p:cNvPr id="3" name="TextBox 2"/>
          <p:cNvSpPr txBox="1"/>
          <p:nvPr/>
        </p:nvSpPr>
        <p:spPr>
          <a:xfrm>
            <a:off x="640080" y="1645920"/>
            <a:ext cx="5120640" cy="4572000"/>
          </a:xfrm>
          <a:prstGeom prst="rect">
            <a:avLst/>
          </a:prstGeom>
          <a:noFill/>
        </p:spPr>
        <p:txBody>
          <a:bodyPr wrap="square">
            <a:spAutoFit/>
          </a:bodyPr>
          <a:lstStyle/>
          <a:p>
            <a:pPr>
              <a:spcAft>
                <a:spcPts val="1400"/>
              </a:spcAft>
              <a:defRPr sz="2000" b="1">
                <a:solidFill>
                  <a:srgbClr val="0B1C3E"/>
                </a:solidFill>
                <a:latin typeface="Arial"/>
              </a:defRPr>
            </a:pPr>
            <a:r>
              <a:t>Modelisation Mathematique</a:t>
            </a:r>
          </a:p>
          <a:p>
            <a:pPr>
              <a:spcAft>
                <a:spcPts val="1200"/>
              </a:spcAft>
              <a:defRPr sz="1300" b="0">
                <a:solidFill>
                  <a:srgbClr val="334155"/>
                </a:solidFill>
                <a:latin typeface="Arial"/>
              </a:defRPr>
            </a:pPr>
            <a:r>
              <a:t>- Variable de decision : x(i, k) tonnage de la commande client 'i' produit via le chemin 'k'.</a:t>
            </a:r>
          </a:p>
          <a:p>
            <a:pPr>
              <a:spcAft>
                <a:spcPts val="1200"/>
              </a:spcAft>
              <a:defRPr sz="1300" b="0">
                <a:solidFill>
                  <a:srgbClr val="334155"/>
                </a:solidFill>
                <a:latin typeface="Arial"/>
              </a:defRPr>
            </a:pPr>
            <a:r>
              <a:t>- Fonction Objectif : Maximise la marge totale (recette - cout HRC amont - transformation - additifs + chutes).</a:t>
            </a:r>
          </a:p>
          <a:p>
            <a:pPr>
              <a:spcAft>
                <a:spcPts val="1200"/>
              </a:spcAft>
              <a:defRPr sz="1300" b="0">
                <a:solidFill>
                  <a:srgbClr val="334155"/>
                </a:solidFill>
                <a:latin typeface="Arial"/>
              </a:defRPr>
            </a:pPr>
            <a:r>
              <a:t>- Contraintes cles : Capacite hebdomadaire nette des lignes, limites de commandes, et stock disponible de HRC par grade.</a:t>
            </a:r>
          </a:p>
        </p:txBody>
      </p:sp>
      <p:sp>
        <p:nvSpPr>
          <p:cNvPr id="4" name="TextBox 3"/>
          <p:cNvSpPr txBox="1"/>
          <p:nvPr/>
        </p:nvSpPr>
        <p:spPr>
          <a:xfrm>
            <a:off x="6309360" y="1645920"/>
            <a:ext cx="5120640" cy="4572000"/>
          </a:xfrm>
          <a:prstGeom prst="rect">
            <a:avLst/>
          </a:prstGeom>
          <a:noFill/>
        </p:spPr>
        <p:txBody>
          <a:bodyPr wrap="square">
            <a:spAutoFit/>
          </a:bodyPr>
          <a:lstStyle/>
          <a:p>
            <a:pPr>
              <a:spcAft>
                <a:spcPts val="1400"/>
              </a:spcAft>
              <a:defRPr sz="2000" b="1">
                <a:solidFill>
                  <a:srgbClr val="0B1C3E"/>
                </a:solidFill>
                <a:latin typeface="Arial"/>
              </a:defRPr>
            </a:pPr>
            <a:r>
              <a:t>Implementation Informatique</a:t>
            </a:r>
          </a:p>
          <a:p>
            <a:pPr>
              <a:spcAft>
                <a:spcPts val="1200"/>
              </a:spcAft>
              <a:defRPr sz="1300" b="0">
                <a:solidFill>
                  <a:srgbClr val="334155"/>
                </a:solidFill>
                <a:latin typeface="Arial"/>
              </a:defRPr>
            </a:pPr>
            <a:r>
              <a:t>- Langage &amp; Solveur : Python 3 avec la librairie PuLP (syntaxe simple pour les sommes) et solveur CBC.</a:t>
            </a:r>
          </a:p>
          <a:p>
            <a:pPr>
              <a:spcAft>
                <a:spcPts val="1200"/>
              </a:spcAft>
              <a:defRPr sz="1300" b="0">
                <a:solidFill>
                  <a:srgbClr val="334155"/>
                </a:solidFill>
                <a:latin typeface="Arial"/>
              </a:defRPr>
            </a:pPr>
            <a:r>
              <a:t>- data_loader.py : Charge l'Excel de donnees, gere les couts de transformation par epaisseur et effectue une interpolation lineaire des prix HRC.</a:t>
            </a:r>
          </a:p>
          <a:p>
            <a:pPr>
              <a:spcAft>
                <a:spcPts val="1200"/>
              </a:spcAft>
              <a:defRPr sz="1300" b="0">
                <a:solidFill>
                  <a:srgbClr val="334155"/>
                </a:solidFill>
                <a:latin typeface="Arial"/>
              </a:defRPr>
            </a:pPr>
            <a:r>
              <a:t>- model.py : Declare le probleme LP, injecte les equations et exporte tous les rapports sous outputs/.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11274552" cy="731520"/>
          </a:xfrm>
          <a:prstGeom prst="rect">
            <a:avLst/>
          </a:prstGeom>
          <a:noFill/>
        </p:spPr>
        <p:txBody>
          <a:bodyPr wrap="square" lIns="0" tIns="0" rIns="0" bIns="0">
            <a:spAutoFit/>
          </a:bodyPr>
          <a:lstStyle/>
          <a:p>
            <a:pPr>
              <a:defRPr sz="3600" b="1">
                <a:solidFill>
                  <a:srgbClr val="0B1C3E"/>
                </a:solidFill>
                <a:latin typeface="Arial"/>
              </a:defRPr>
            </a:pPr>
            <a:r>
              <a:t>Analyse de Sensibilite &amp; Scenarios</a:t>
            </a:r>
          </a:p>
        </p:txBody>
      </p:sp>
      <p:sp>
        <p:nvSpPr>
          <p:cNvPr id="3" name="TextBox 2"/>
          <p:cNvSpPr txBox="1"/>
          <p:nvPr/>
        </p:nvSpPr>
        <p:spPr>
          <a:xfrm>
            <a:off x="640080" y="1645920"/>
            <a:ext cx="10908792" cy="4572000"/>
          </a:xfrm>
          <a:prstGeom prst="rect">
            <a:avLst/>
          </a:prstGeom>
          <a:noFill/>
        </p:spPr>
        <p:txBody>
          <a:bodyPr wrap="square">
            <a:spAutoFit/>
          </a:bodyPr>
          <a:lstStyle/>
          <a:p>
            <a:pPr>
              <a:spcAft>
                <a:spcPts val="1400"/>
              </a:spcAft>
              <a:defRPr sz="2000" b="1">
                <a:solidFill>
                  <a:srgbClr val="0B1C3E"/>
                </a:solidFill>
                <a:latin typeface="Arial"/>
              </a:defRPr>
            </a:pPr>
            <a:r>
              <a:t>Resultats des Scenarios de Sensibilite</a:t>
            </a:r>
          </a:p>
        </p:txBody>
      </p:sp>
      <p:graphicFrame>
        <p:nvGraphicFramePr>
          <p:cNvPr id="4" name="Table 3"/>
          <p:cNvGraphicFramePr>
            <a:graphicFrameLocks noGrp="1"/>
          </p:cNvGraphicFramePr>
          <p:nvPr/>
        </p:nvGraphicFramePr>
        <p:xfrm>
          <a:off x="640080" y="2286000"/>
          <a:ext cx="10908792" cy="3200400"/>
        </p:xfrm>
        <a:graphic>
          <a:graphicData uri="http://schemas.openxmlformats.org/drawingml/2006/table">
            <a:tbl>
              <a:tblPr firstRow="1" bandRow="1">
                <a:tableStyleId>{5C22544A-7EE6-4342-B048-85BDC9FD1C3A}</a:tableStyleId>
              </a:tblPr>
              <a:tblGrid>
                <a:gridCol w="2727198"/>
                <a:gridCol w="2727198"/>
                <a:gridCol w="2727198"/>
                <a:gridCol w="2727198"/>
              </a:tblGrid>
              <a:tr h="640080">
                <a:tc>
                  <a:txBody>
                    <a:bodyPr/>
                    <a:lstStyle/>
                    <a:p>
                      <a:pPr>
                        <a:spcAft>
                          <a:spcPts val="0"/>
                        </a:spcAft>
                        <a:defRPr sz="1400" b="1">
                          <a:solidFill>
                            <a:srgbClr val="0B1C3E"/>
                          </a:solidFill>
                          <a:latin typeface="Arial"/>
                        </a:defRPr>
                      </a:pPr>
                      <a:r>
                        <a:t>Scenario</a:t>
                      </a:r>
                    </a:p>
                  </a:txBody>
                  <a:tcPr>
                    <a:solidFill>
                      <a:srgbClr val="E6EBF5"/>
                    </a:solidFill>
                  </a:tcPr>
                </a:tc>
                <a:tc>
                  <a:txBody>
                    <a:bodyPr/>
                    <a:lstStyle/>
                    <a:p>
                      <a:pPr>
                        <a:spcAft>
                          <a:spcPts val="0"/>
                        </a:spcAft>
                        <a:defRPr sz="1400" b="1">
                          <a:solidFill>
                            <a:srgbClr val="0B1C3E"/>
                          </a:solidFill>
                          <a:latin typeface="Arial"/>
                        </a:defRPr>
                      </a:pPr>
                      <a:r>
                        <a:t>Marge Totale (MAD)</a:t>
                      </a:r>
                    </a:p>
                  </a:txBody>
                  <a:tcPr>
                    <a:solidFill>
                      <a:srgbClr val="E6EBF5"/>
                    </a:solidFill>
                  </a:tcPr>
                </a:tc>
                <a:tc>
                  <a:txBody>
                    <a:bodyPr/>
                    <a:lstStyle/>
                    <a:p>
                      <a:pPr>
                        <a:spcAft>
                          <a:spcPts val="0"/>
                        </a:spcAft>
                        <a:defRPr sz="1400" b="1">
                          <a:solidFill>
                            <a:srgbClr val="0B1C3E"/>
                          </a:solidFill>
                          <a:latin typeface="Arial"/>
                        </a:defRPr>
                      </a:pPr>
                      <a:r>
                        <a:t>Taux Service</a:t>
                      </a:r>
                    </a:p>
                  </a:txBody>
                  <a:tcPr>
                    <a:solidFill>
                      <a:srgbClr val="E6EBF5"/>
                    </a:solidFill>
                  </a:tcPr>
                </a:tc>
                <a:tc>
                  <a:txBody>
                    <a:bodyPr/>
                    <a:lstStyle/>
                    <a:p>
                      <a:pPr>
                        <a:spcAft>
                          <a:spcPts val="0"/>
                        </a:spcAft>
                        <a:defRPr sz="1400" b="1">
                          <a:solidFill>
                            <a:srgbClr val="0B1C3E"/>
                          </a:solidFill>
                          <a:latin typeface="Arial"/>
                        </a:defRPr>
                      </a:pPr>
                      <a:r>
                        <a:t>Commentaire et Decision</a:t>
                      </a:r>
                    </a:p>
                  </a:txBody>
                  <a:tcPr>
                    <a:solidFill>
                      <a:srgbClr val="E6EBF5"/>
                    </a:solidFill>
                  </a:tcPr>
                </a:tc>
              </a:tr>
              <a:tr h="640080">
                <a:tc>
                  <a:txBody>
                    <a:bodyPr/>
                    <a:lstStyle/>
                    <a:p>
                      <a:pPr>
                        <a:spcAft>
                          <a:spcPts val="0"/>
                        </a:spcAft>
                        <a:defRPr sz="1200" b="1">
                          <a:solidFill>
                            <a:srgbClr val="334155"/>
                          </a:solidFill>
                          <a:latin typeface="Arial"/>
                        </a:defRPr>
                      </a:pPr>
                      <a:r>
                        <a:t>Base (Nominal)</a:t>
                      </a:r>
                    </a:p>
                  </a:txBody>
                  <a:tcPr/>
                </a:tc>
                <a:tc>
                  <a:txBody>
                    <a:bodyPr/>
                    <a:lstStyle/>
                    <a:p>
                      <a:pPr>
                        <a:spcAft>
                          <a:spcPts val="0"/>
                        </a:spcAft>
                        <a:defRPr sz="1200" b="0">
                          <a:solidFill>
                            <a:srgbClr val="0B1C3E"/>
                          </a:solidFill>
                          <a:latin typeface="Arial"/>
                        </a:defRPr>
                      </a:pPr>
                      <a:r>
                        <a:t>42 893 888 MAD</a:t>
                      </a:r>
                    </a:p>
                  </a:txBody>
                  <a:tcPr/>
                </a:tc>
                <a:tc>
                  <a:txBody>
                    <a:bodyPr/>
                    <a:lstStyle/>
                    <a:p>
                      <a:pPr>
                        <a:spcAft>
                          <a:spcPts val="0"/>
                        </a:spcAft>
                        <a:defRPr sz="1200" b="0">
                          <a:solidFill>
                            <a:srgbClr val="334155"/>
                          </a:solidFill>
                          <a:latin typeface="Arial"/>
                        </a:defRPr>
                      </a:pPr>
                      <a:r>
                        <a:t>88.0%</a:t>
                      </a:r>
                    </a:p>
                  </a:txBody>
                  <a:tcPr/>
                </a:tc>
                <a:tc>
                  <a:txBody>
                    <a:bodyPr/>
                    <a:lstStyle/>
                    <a:p>
                      <a:pPr>
                        <a:spcAft>
                          <a:spcPts val="0"/>
                        </a:spcAft>
                        <a:defRPr sz="1200" b="0">
                          <a:solidFill>
                            <a:srgbClr val="334155"/>
                          </a:solidFill>
                          <a:latin typeface="Arial"/>
                        </a:defRPr>
                      </a:pPr>
                      <a:r>
                        <a:t>Cas de reference. 8 commandes refusees en raison de la saturation LGA/CRMB S1.</a:t>
                      </a:r>
                    </a:p>
                  </a:txBody>
                  <a:tcPr/>
                </a:tc>
              </a:tr>
              <a:tr h="640080">
                <a:tc>
                  <a:txBody>
                    <a:bodyPr/>
                    <a:lstStyle/>
                    <a:p>
                      <a:pPr>
                        <a:spcAft>
                          <a:spcPts val="0"/>
                        </a:spcAft>
                        <a:defRPr sz="1200" b="1">
                          <a:solidFill>
                            <a:srgbClr val="334155"/>
                          </a:solidFill>
                          <a:latin typeface="Arial"/>
                        </a:defRPr>
                      </a:pPr>
                      <a:r>
                        <a:t>HRC +10%</a:t>
                      </a:r>
                    </a:p>
                  </a:txBody>
                  <a:tcPr/>
                </a:tc>
                <a:tc>
                  <a:txBody>
                    <a:bodyPr/>
                    <a:lstStyle/>
                    <a:p>
                      <a:pPr>
                        <a:spcAft>
                          <a:spcPts val="0"/>
                        </a:spcAft>
                        <a:defRPr sz="1200" b="0">
                          <a:solidFill>
                            <a:srgbClr val="0B1C3E"/>
                          </a:solidFill>
                          <a:latin typeface="Arial"/>
                        </a:defRPr>
                      </a:pPr>
                      <a:r>
                        <a:t>33 227 301 MAD</a:t>
                      </a:r>
                    </a:p>
                  </a:txBody>
                  <a:tcPr/>
                </a:tc>
                <a:tc>
                  <a:txBody>
                    <a:bodyPr/>
                    <a:lstStyle/>
                    <a:p>
                      <a:pPr>
                        <a:spcAft>
                          <a:spcPts val="0"/>
                        </a:spcAft>
                        <a:defRPr sz="1200" b="0">
                          <a:solidFill>
                            <a:srgbClr val="334155"/>
                          </a:solidFill>
                          <a:latin typeface="Arial"/>
                        </a:defRPr>
                      </a:pPr>
                      <a:r>
                        <a:t>88.0%</a:t>
                      </a:r>
                    </a:p>
                  </a:txBody>
                  <a:tcPr/>
                </a:tc>
                <a:tc>
                  <a:txBody>
                    <a:bodyPr/>
                    <a:lstStyle/>
                    <a:p>
                      <a:pPr>
                        <a:spcAft>
                          <a:spcPts val="0"/>
                        </a:spcAft>
                        <a:defRPr sz="1200" b="0">
                          <a:solidFill>
                            <a:srgbClr val="334155"/>
                          </a:solidFill>
                          <a:latin typeface="Arial"/>
                        </a:defRPr>
                      </a:pPr>
                      <a:r>
                        <a:t>Hausse mondiale des matieres premieres. Perte de 22.5% de la marge nette. Mix inchange.</a:t>
                      </a:r>
                    </a:p>
                  </a:txBody>
                  <a:tcPr/>
                </a:tc>
              </a:tr>
              <a:tr h="640080">
                <a:tc>
                  <a:txBody>
                    <a:bodyPr/>
                    <a:lstStyle/>
                    <a:p>
                      <a:pPr>
                        <a:spcAft>
                          <a:spcPts val="0"/>
                        </a:spcAft>
                        <a:defRPr sz="1200" b="1">
                          <a:solidFill>
                            <a:srgbClr val="334155"/>
                          </a:solidFill>
                          <a:latin typeface="Arial"/>
                        </a:defRPr>
                      </a:pPr>
                      <a:r>
                        <a:t>Panne LGB S2</a:t>
                      </a:r>
                    </a:p>
                  </a:txBody>
                  <a:tcPr/>
                </a:tc>
                <a:tc>
                  <a:txBody>
                    <a:bodyPr/>
                    <a:lstStyle/>
                    <a:p>
                      <a:pPr>
                        <a:spcAft>
                          <a:spcPts val="0"/>
                        </a:spcAft>
                        <a:defRPr sz="1200" b="0">
                          <a:solidFill>
                            <a:srgbClr val="0B1C3E"/>
                          </a:solidFill>
                          <a:latin typeface="Arial"/>
                        </a:defRPr>
                      </a:pPr>
                      <a:r>
                        <a:t>42 729 388 MAD</a:t>
                      </a:r>
                    </a:p>
                  </a:txBody>
                  <a:tcPr/>
                </a:tc>
                <a:tc>
                  <a:txBody>
                    <a:bodyPr/>
                    <a:lstStyle/>
                    <a:p>
                      <a:pPr>
                        <a:spcAft>
                          <a:spcPts val="0"/>
                        </a:spcAft>
                        <a:defRPr sz="1200" b="0">
                          <a:solidFill>
                            <a:srgbClr val="334155"/>
                          </a:solidFill>
                          <a:latin typeface="Arial"/>
                        </a:defRPr>
                      </a:pPr>
                      <a:r>
                        <a:t>87.7%</a:t>
                      </a:r>
                    </a:p>
                  </a:txBody>
                  <a:tcPr/>
                </a:tc>
                <a:tc>
                  <a:txBody>
                    <a:bodyPr/>
                    <a:lstStyle/>
                    <a:p>
                      <a:pPr>
                        <a:spcAft>
                          <a:spcPts val="0"/>
                        </a:spcAft>
                        <a:defRPr sz="1200" b="0">
                          <a:solidFill>
                            <a:srgbClr val="334155"/>
                          </a:solidFill>
                          <a:latin typeface="Arial"/>
                        </a:defRPr>
                      </a:pPr>
                      <a:r>
                        <a:t>2 jours d'arret LGB en S2. Perte minime (-164k MAD) car les flux basculent vers LGA.</a:t>
                      </a:r>
                    </a:p>
                  </a:txBody>
                  <a:tcPr/>
                </a:tc>
              </a:tr>
              <a:tr h="640080">
                <a:tc>
                  <a:txBody>
                    <a:bodyPr/>
                    <a:lstStyle/>
                    <a:p>
                      <a:pPr>
                        <a:spcAft>
                          <a:spcPts val="0"/>
                        </a:spcAft>
                        <a:defRPr sz="1200" b="1">
                          <a:solidFill>
                            <a:srgbClr val="334155"/>
                          </a:solidFill>
                          <a:latin typeface="Arial"/>
                        </a:defRPr>
                      </a:pPr>
                      <a:r>
                        <a:t>Commande urgente S1</a:t>
                      </a:r>
                    </a:p>
                  </a:txBody>
                  <a:tcPr/>
                </a:tc>
                <a:tc>
                  <a:txBody>
                    <a:bodyPr/>
                    <a:lstStyle/>
                    <a:p>
                      <a:pPr>
                        <a:spcAft>
                          <a:spcPts val="0"/>
                        </a:spcAft>
                        <a:defRPr sz="1200" b="0">
                          <a:solidFill>
                            <a:srgbClr val="0B1C3E"/>
                          </a:solidFill>
                          <a:latin typeface="Arial"/>
                        </a:defRPr>
                      </a:pPr>
                      <a:r>
                        <a:t>43 024 800 MAD</a:t>
                      </a:r>
                    </a:p>
                  </a:txBody>
                  <a:tcPr/>
                </a:tc>
                <a:tc>
                  <a:txBody>
                    <a:bodyPr/>
                    <a:lstStyle/>
                    <a:p>
                      <a:pPr>
                        <a:spcAft>
                          <a:spcPts val="0"/>
                        </a:spcAft>
                        <a:defRPr sz="1200" b="0">
                          <a:solidFill>
                            <a:srgbClr val="334155"/>
                          </a:solidFill>
                          <a:latin typeface="Arial"/>
                        </a:defRPr>
                      </a:pPr>
                      <a:r>
                        <a:t>86.8%</a:t>
                      </a:r>
                    </a:p>
                  </a:txBody>
                  <a:tcPr/>
                </a:tc>
                <a:tc>
                  <a:txBody>
                    <a:bodyPr/>
                    <a:lstStyle/>
                    <a:p>
                      <a:pPr>
                        <a:spcAft>
                          <a:spcPts val="0"/>
                        </a:spcAft>
                        <a:defRPr sz="1200" b="0">
                          <a:solidFill>
                            <a:srgbClr val="334155"/>
                          </a:solidFill>
                          <a:latin typeface="Arial"/>
                        </a:defRPr>
                      </a:pPr>
                      <a:r>
                        <a:t>HDG +300T en S1. Acceptee a 100% en refusant des commandes moins profitables (ex. CMD_014).</a:t>
                      </a:r>
                    </a:p>
                  </a:txBody>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11274552" cy="731520"/>
          </a:xfrm>
          <a:prstGeom prst="rect">
            <a:avLst/>
          </a:prstGeom>
          <a:noFill/>
        </p:spPr>
        <p:txBody>
          <a:bodyPr wrap="square" lIns="0" tIns="0" rIns="0" bIns="0">
            <a:spAutoFit/>
          </a:bodyPr>
          <a:lstStyle/>
          <a:p>
            <a:pPr>
              <a:defRPr sz="3600" b="1">
                <a:solidFill>
                  <a:srgbClr val="0B1C3E"/>
                </a:solidFill>
                <a:latin typeface="Arial"/>
              </a:defRPr>
            </a:pPr>
            <a:r>
              <a:t>Recommandations Strategiques</a:t>
            </a:r>
          </a:p>
        </p:txBody>
      </p:sp>
      <p:sp>
        <p:nvSpPr>
          <p:cNvPr id="3" name="TextBox 2"/>
          <p:cNvSpPr txBox="1"/>
          <p:nvPr/>
        </p:nvSpPr>
        <p:spPr>
          <a:xfrm>
            <a:off x="640080" y="1645920"/>
            <a:ext cx="10908792" cy="4572000"/>
          </a:xfrm>
          <a:prstGeom prst="rect">
            <a:avLst/>
          </a:prstGeom>
          <a:noFill/>
        </p:spPr>
        <p:txBody>
          <a:bodyPr wrap="square">
            <a:spAutoFit/>
          </a:bodyPr>
          <a:lstStyle/>
          <a:p>
            <a:pPr>
              <a:spcAft>
                <a:spcPts val="1400"/>
              </a:spcAft>
              <a:defRPr sz="2000" b="1">
                <a:solidFill>
                  <a:srgbClr val="0B1C3E"/>
                </a:solidFill>
                <a:latin typeface="Arial"/>
              </a:defRPr>
            </a:pPr>
            <a:r>
              <a:t>3 Leviers d'Amelioration Operationnelle pour Maghreb Steel</a:t>
            </a:r>
          </a:p>
          <a:p>
            <a:pPr>
              <a:spcAft>
                <a:spcPts val="600"/>
              </a:spcAft>
              <a:defRPr sz="1600" b="1">
                <a:solidFill>
                  <a:srgbClr val="3B82F6"/>
                </a:solidFill>
                <a:latin typeface="Arial"/>
              </a:defRPr>
            </a:pPr>
            <a:r>
              <a:t>Recommandation 1 : Investir sur la ligne LGA</a:t>
            </a:r>
          </a:p>
          <a:p>
            <a:pPr>
              <a:spcAft>
                <a:spcPts val="1400"/>
              </a:spcAft>
              <a:defRPr sz="1400" b="0">
                <a:solidFill>
                  <a:srgbClr val="334155"/>
                </a:solidFill>
                <a:latin typeface="Arial"/>
              </a:defRPr>
            </a:pPr>
            <a:r>
              <a:t>La ligne LGA est saturee a 100% en semaine 1. Le shadow price de cette contrainte montre que chaque heure de fonctionnement supplementaire permettrait de satisfaire des commandes HDG/PPGI en attente a forte marge.</a:t>
            </a:r>
          </a:p>
          <a:p>
            <a:pPr>
              <a:spcAft>
                <a:spcPts val="600"/>
              </a:spcAft>
              <a:defRPr sz="1600" b="1">
                <a:solidFill>
                  <a:srgbClr val="3B82F6"/>
                </a:solidFill>
                <a:latin typeface="Arial"/>
              </a:defRPr>
            </a:pPr>
            <a:r>
              <a:t>Recommandation 2 : Privilegier les produits PPGI et HDG</a:t>
            </a:r>
          </a:p>
          <a:p>
            <a:pPr>
              <a:spcAft>
                <a:spcPts val="1400"/>
              </a:spcAft>
              <a:defRPr sz="1400" b="0">
                <a:solidFill>
                  <a:srgbClr val="334155"/>
                </a:solidFill>
                <a:latin typeface="Arial"/>
              </a:defRPr>
            </a:pPr>
            <a:r>
              <a:t>Le PPGI et le HDG sont les produits finis a plus forte valeur ajoutee. L'equipe commerciale doit activement orienter le carnet de commandes vers ces deux familles de produits.</a:t>
            </a:r>
          </a:p>
          <a:p>
            <a:pPr>
              <a:spcAft>
                <a:spcPts val="600"/>
              </a:spcAft>
              <a:defRPr sz="1600" b="1">
                <a:solidFill>
                  <a:srgbClr val="3B82F6"/>
                </a:solidFill>
                <a:latin typeface="Arial"/>
              </a:defRPr>
            </a:pPr>
            <a:r>
              <a:t>Recommandation 3 : Securiser l'approvisionnement du HRC grade DC01</a:t>
            </a:r>
          </a:p>
          <a:p>
            <a:pPr>
              <a:spcAft>
                <a:spcPts val="0"/>
              </a:spcAft>
              <a:defRPr sz="1400" b="0">
                <a:solidFill>
                  <a:srgbClr val="334155"/>
                </a:solidFill>
                <a:latin typeface="Arial"/>
              </a:defRPr>
            </a:pPr>
            <a:r>
              <a:t>Le grade d'acier DC01 est le plus consomme et le plus contraint par la limite de disponibilite. Un partenariat ou une augmentation du stock de securite sur ce grade debloquerait plusieurs commandes.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